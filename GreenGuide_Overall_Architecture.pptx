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12801600"/>
  <p:notesSz cx="12801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GreenGuide Overall System Architecture</a:t>
            </a:r>
            <a:endParaRPr lang="en-US" sz="2400" dirty="0"/>
          </a:p>
        </p:txBody>
      </p:sp>
      <p:sp>
        <p:nvSpPr>
          <p:cNvPr id="3" name="Legend"/>
          <p:cNvSpPr txBox="1"/>
          <p:nvPr/>
        </p:nvSpPr>
        <p:spPr>
          <a:xfrm>
            <a:off x="36576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arrows: the request going in.   Dashed blue arrows: the answer coming back.</a:t>
            </a:r>
            <a:endParaRPr lang="en-US" sz="1100" dirty="0"/>
          </a:p>
        </p:txBody>
      </p:sp>
      <p:sp>
        <p:nvSpPr>
          <p:cNvPr id="4" name="Node Farmer"/>
          <p:cNvSpPr/>
          <p:nvPr/>
        </p:nvSpPr>
        <p:spPr>
          <a:xfrm>
            <a:off x="548640" y="1097280"/>
            <a:ext cx="3840480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</a:t>
            </a:r>
            <a:endParaRPr lang="en-US" sz="125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· text or voice</a:t>
            </a:r>
            <a:endParaRPr lang="en-US" sz="1250" dirty="0"/>
          </a:p>
        </p:txBody>
      </p:sp>
      <p:sp>
        <p:nvSpPr>
          <p:cNvPr id="5" name="Badge 1"/>
          <p:cNvSpPr/>
          <p:nvPr/>
        </p:nvSpPr>
        <p:spPr>
          <a:xfrm>
            <a:off x="534924" y="1083564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Node Web pages"/>
          <p:cNvSpPr/>
          <p:nvPr/>
        </p:nvSpPr>
        <p:spPr>
          <a:xfrm>
            <a:off x="6217920" y="1097280"/>
            <a:ext cx="4206240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pages</a:t>
            </a:r>
            <a:endParaRPr lang="en-US" sz="125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JavaScript · 9 pages</a:t>
            </a:r>
            <a:endParaRPr lang="en-US" sz="1250" dirty="0"/>
          </a:p>
        </p:txBody>
      </p:sp>
      <p:sp>
        <p:nvSpPr>
          <p:cNvPr id="7" name="Badge 2"/>
          <p:cNvSpPr/>
          <p:nvPr/>
        </p:nvSpPr>
        <p:spPr>
          <a:xfrm>
            <a:off x="6204204" y="1083564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Arrow 1"/>
          <p:cNvSpPr/>
          <p:nvPr/>
        </p:nvSpPr>
        <p:spPr>
          <a:xfrm>
            <a:off x="4389120" y="1408176"/>
            <a:ext cx="1828800" cy="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9" name="Label 2"/>
          <p:cNvSpPr txBox="1"/>
          <p:nvPr/>
        </p:nvSpPr>
        <p:spPr>
          <a:xfrm>
            <a:off x="4446270" y="1124712"/>
            <a:ext cx="1714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page, sends request</a:t>
            </a:r>
            <a:endParaRPr lang="en-US" sz="800" dirty="0"/>
          </a:p>
        </p:txBody>
      </p:sp>
      <p:sp>
        <p:nvSpPr>
          <p:cNvPr id="10" name="Return arrow 3"/>
          <p:cNvSpPr/>
          <p:nvPr/>
        </p:nvSpPr>
        <p:spPr>
          <a:xfrm flipH="1">
            <a:off x="4389120" y="1883664"/>
            <a:ext cx="1828800" cy="0"/>
          </a:xfrm>
          <a:prstGeom prst="line">
            <a:avLst/>
          </a:prstGeom>
          <a:noFill/>
          <a:ln w="19050">
            <a:solidFill>
              <a:srgbClr val="2F7FB8"/>
            </a:solidFill>
            <a:prstDash val="dash"/>
            <a:tailEnd type="triangle"/>
          </a:ln>
        </p:spPr>
      </p:sp>
      <p:sp>
        <p:nvSpPr>
          <p:cNvPr id="11" name="Label 4"/>
          <p:cNvSpPr txBox="1"/>
          <p:nvPr/>
        </p:nvSpPr>
        <p:spPr>
          <a:xfrm>
            <a:off x="4754880" y="1975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answer</a:t>
            </a:r>
            <a:endParaRPr lang="en-US" sz="800" dirty="0"/>
          </a:p>
        </p:txBody>
      </p:sp>
      <p:sp>
        <p:nvSpPr>
          <p:cNvPr id="12" name="Node Express backend"/>
          <p:cNvSpPr/>
          <p:nvPr/>
        </p:nvSpPr>
        <p:spPr>
          <a:xfrm>
            <a:off x="365760" y="2743200"/>
            <a:ext cx="13898880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backend</a:t>
            </a:r>
            <a:endParaRPr lang="en-US" sz="125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input  ·  checks the farmer id is a real account  ·  routes the request to the right feature</a:t>
            </a:r>
            <a:endParaRPr lang="en-US" sz="1250" dirty="0"/>
          </a:p>
        </p:txBody>
      </p:sp>
      <p:sp>
        <p:nvSpPr>
          <p:cNvPr id="13" name="Badge 3"/>
          <p:cNvSpPr/>
          <p:nvPr/>
        </p:nvSpPr>
        <p:spPr>
          <a:xfrm>
            <a:off x="352044" y="2729484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Arrow 5"/>
          <p:cNvSpPr/>
          <p:nvPr/>
        </p:nvSpPr>
        <p:spPr>
          <a:xfrm>
            <a:off x="7863840" y="2194560"/>
            <a:ext cx="0" cy="54864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15" name="Label 6"/>
          <p:cNvSpPr txBox="1"/>
          <p:nvPr/>
        </p:nvSpPr>
        <p:spPr>
          <a:xfrm>
            <a:off x="6766560" y="23682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request</a:t>
            </a:r>
            <a:endParaRPr lang="en-US" sz="800" dirty="0"/>
          </a:p>
        </p:txBody>
      </p:sp>
      <p:sp>
        <p:nvSpPr>
          <p:cNvPr id="16" name="Return arrow 7"/>
          <p:cNvSpPr/>
          <p:nvPr/>
        </p:nvSpPr>
        <p:spPr>
          <a:xfrm flipV="1">
            <a:off x="8778240" y="2194560"/>
            <a:ext cx="0" cy="548640"/>
          </a:xfrm>
          <a:prstGeom prst="line">
            <a:avLst/>
          </a:prstGeom>
          <a:noFill/>
          <a:ln w="19050">
            <a:solidFill>
              <a:srgbClr val="2F7FB8"/>
            </a:solidFill>
            <a:prstDash val="dash"/>
            <a:tailEnd type="triangle"/>
          </a:ln>
        </p:spPr>
      </p:sp>
      <p:sp>
        <p:nvSpPr>
          <p:cNvPr id="17" name="Label 8"/>
          <p:cNvSpPr txBox="1"/>
          <p:nvPr/>
        </p:nvSpPr>
        <p:spPr>
          <a:xfrm>
            <a:off x="9052560" y="2368296"/>
            <a:ext cx="754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F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answer</a:t>
            </a:r>
            <a:endParaRPr lang="en-US" sz="800" dirty="0"/>
          </a:p>
        </p:txBody>
      </p:sp>
      <p:sp>
        <p:nvSpPr>
          <p:cNvPr id="18" name="Panel A  LOAN &amp; SCHEMES"/>
          <p:cNvSpPr/>
          <p:nvPr/>
        </p:nvSpPr>
        <p:spPr>
          <a:xfrm>
            <a:off x="365760" y="4023360"/>
            <a:ext cx="4389120" cy="6400800"/>
          </a:xfrm>
          <a:prstGeom prst="roundRect">
            <a:avLst>
              <a:gd name="adj" fmla="val 3750"/>
            </a:avLst>
          </a:prstGeom>
          <a:solidFill>
            <a:srgbClr val="E8F3EC"/>
          </a:solidFill>
          <a:ln w="19050">
            <a:solidFill>
              <a:srgbClr val="9CC7B0"/>
            </a:solidFill>
            <a:prstDash val="solid"/>
          </a:ln>
        </p:spPr>
      </p:sp>
      <p:sp>
        <p:nvSpPr>
          <p:cNvPr id="19" name="Panel title A  LOAN &amp;amp; SCHEMES"/>
          <p:cNvSpPr txBox="1"/>
          <p:nvPr/>
        </p:nvSpPr>
        <p:spPr>
          <a:xfrm>
            <a:off x="548640" y="41056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LOAN &amp; SCHEMES</a:t>
            </a:r>
            <a:endParaRPr lang="en-US" sz="900" dirty="0"/>
          </a:p>
        </p:txBody>
      </p:sp>
      <p:sp>
        <p:nvSpPr>
          <p:cNvPr id="20" name="Panel page A  LOAN &amp;amp; SCHEMES"/>
          <p:cNvSpPr txBox="1"/>
          <p:nvPr/>
        </p:nvSpPr>
        <p:spPr>
          <a:xfrm>
            <a:off x="2377440" y="41056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assistant page</a:t>
            </a:r>
            <a:endParaRPr lang="en-US" sz="700" dirty="0"/>
          </a:p>
        </p:txBody>
      </p:sp>
      <p:sp>
        <p:nvSpPr>
          <p:cNvPr id="21" name="Step 4 Land &amp; profile"/>
          <p:cNvSpPr/>
          <p:nvPr/>
        </p:nvSpPr>
        <p:spPr>
          <a:xfrm>
            <a:off x="640080" y="4663440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profile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saves acres,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 and personal facts</a:t>
            </a:r>
            <a:endParaRPr lang="en-US" sz="1020" dirty="0"/>
          </a:p>
        </p:txBody>
      </p:sp>
      <p:sp>
        <p:nvSpPr>
          <p:cNvPr id="22" name="Badge 4"/>
          <p:cNvSpPr/>
          <p:nvPr/>
        </p:nvSpPr>
        <p:spPr>
          <a:xfrm>
            <a:off x="626364" y="4649724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Arrow 9"/>
          <p:cNvSpPr/>
          <p:nvPr/>
        </p:nvSpPr>
        <p:spPr>
          <a:xfrm>
            <a:off x="2560320" y="5522976"/>
            <a:ext cx="0" cy="27432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24" name="Step 5 Loan score"/>
          <p:cNvSpPr/>
          <p:nvPr/>
        </p:nvSpPr>
        <p:spPr>
          <a:xfrm>
            <a:off x="640080" y="5797296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score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regression;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 answers = ask</a:t>
            </a:r>
            <a:endParaRPr lang="en-US" sz="1020" dirty="0"/>
          </a:p>
        </p:txBody>
      </p:sp>
      <p:sp>
        <p:nvSpPr>
          <p:cNvPr id="25" name="Badge 5"/>
          <p:cNvSpPr/>
          <p:nvPr/>
        </p:nvSpPr>
        <p:spPr>
          <a:xfrm>
            <a:off x="626364" y="5783580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Arrow 10"/>
          <p:cNvSpPr/>
          <p:nvPr/>
        </p:nvSpPr>
        <p:spPr>
          <a:xfrm>
            <a:off x="2560320" y="6656832"/>
            <a:ext cx="0" cy="27432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27" name="Step 6 Eligibility rules"/>
          <p:cNvSpPr/>
          <p:nvPr/>
        </p:nvSpPr>
        <p:spPr>
          <a:xfrm>
            <a:off x="640080" y="6931152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rules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schemes, judged on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holding</a:t>
            </a:r>
            <a:endParaRPr lang="en-US" sz="1020" dirty="0"/>
          </a:p>
        </p:txBody>
      </p:sp>
      <p:sp>
        <p:nvSpPr>
          <p:cNvPr id="28" name="Badge 6"/>
          <p:cNvSpPr/>
          <p:nvPr/>
        </p:nvSpPr>
        <p:spPr>
          <a:xfrm>
            <a:off x="626364" y="6917436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Arrow 11"/>
          <p:cNvSpPr/>
          <p:nvPr/>
        </p:nvSpPr>
        <p:spPr>
          <a:xfrm>
            <a:off x="2560320" y="7790688"/>
            <a:ext cx="0" cy="27432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30" name="Step 7 Groq LLM"/>
          <p:cNvSpPr/>
          <p:nvPr/>
        </p:nvSpPr>
        <p:spPr>
          <a:xfrm>
            <a:off x="640080" y="8065008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DEEDD"/>
          </a:solidFill>
          <a:ln w="27940">
            <a:solidFill>
              <a:srgbClr val="E8892B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LLM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each verdict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</a:t>
            </a:r>
            <a:endParaRPr lang="en-US" sz="1020" dirty="0"/>
          </a:p>
        </p:txBody>
      </p:sp>
      <p:sp>
        <p:nvSpPr>
          <p:cNvPr id="31" name="Badge 7"/>
          <p:cNvSpPr/>
          <p:nvPr/>
        </p:nvSpPr>
        <p:spPr>
          <a:xfrm>
            <a:off x="626364" y="8051292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Arrow 12"/>
          <p:cNvSpPr/>
          <p:nvPr/>
        </p:nvSpPr>
        <p:spPr>
          <a:xfrm>
            <a:off x="2560320" y="8924544"/>
            <a:ext cx="0" cy="27432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33" name="Step 8 Schemes &amp; papers"/>
          <p:cNvSpPr/>
          <p:nvPr/>
        </p:nvSpPr>
        <p:spPr>
          <a:xfrm>
            <a:off x="640080" y="9198864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 &amp; papers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verdict, documents,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link, last checked</a:t>
            </a:r>
            <a:endParaRPr lang="en-US" sz="1020" dirty="0"/>
          </a:p>
        </p:txBody>
      </p:sp>
      <p:sp>
        <p:nvSpPr>
          <p:cNvPr id="34" name="Badge 8"/>
          <p:cNvSpPr/>
          <p:nvPr/>
        </p:nvSpPr>
        <p:spPr>
          <a:xfrm>
            <a:off x="626364" y="9185148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35" name="Arrow 13"/>
          <p:cNvSpPr/>
          <p:nvPr/>
        </p:nvSpPr>
        <p:spPr>
          <a:xfrm>
            <a:off x="1828800" y="3840480"/>
            <a:ext cx="0" cy="82296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36" name="Return arrow 14"/>
          <p:cNvSpPr/>
          <p:nvPr/>
        </p:nvSpPr>
        <p:spPr>
          <a:xfrm flipV="1">
            <a:off x="3291840" y="3840480"/>
            <a:ext cx="0" cy="182880"/>
          </a:xfrm>
          <a:prstGeom prst="line">
            <a:avLst/>
          </a:prstGeom>
          <a:noFill/>
          <a:ln w="19050">
            <a:solidFill>
              <a:srgbClr val="2F7FB8"/>
            </a:solidFill>
            <a:prstDash val="dash"/>
            <a:tailEnd type="triangle"/>
          </a:ln>
        </p:spPr>
      </p:sp>
      <p:sp>
        <p:nvSpPr>
          <p:cNvPr id="37" name="Label 15"/>
          <p:cNvSpPr txBox="1"/>
          <p:nvPr/>
        </p:nvSpPr>
        <p:spPr>
          <a:xfrm>
            <a:off x="1211580" y="3959352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750" dirty="0"/>
          </a:p>
        </p:txBody>
      </p:sp>
      <p:sp>
        <p:nvSpPr>
          <p:cNvPr id="38" name="Label 16"/>
          <p:cNvSpPr txBox="1"/>
          <p:nvPr/>
        </p:nvSpPr>
        <p:spPr>
          <a:xfrm>
            <a:off x="3429000" y="39593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F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50" dirty="0"/>
          </a:p>
        </p:txBody>
      </p:sp>
      <p:sp>
        <p:nvSpPr>
          <p:cNvPr id="39" name="Panel B  ASK A QUESTION"/>
          <p:cNvSpPr/>
          <p:nvPr/>
        </p:nvSpPr>
        <p:spPr>
          <a:xfrm>
            <a:off x="5120640" y="4023360"/>
            <a:ext cx="4389120" cy="6400800"/>
          </a:xfrm>
          <a:prstGeom prst="roundRect">
            <a:avLst>
              <a:gd name="adj" fmla="val 3750"/>
            </a:avLst>
          </a:prstGeom>
          <a:solidFill>
            <a:srgbClr val="E8F3EC"/>
          </a:solidFill>
          <a:ln w="19050">
            <a:solidFill>
              <a:srgbClr val="9CC7B0"/>
            </a:solidFill>
            <a:prstDash val="solid"/>
          </a:ln>
        </p:spPr>
      </p:sp>
      <p:sp>
        <p:nvSpPr>
          <p:cNvPr id="40" name="Panel title B  ASK A QUESTION"/>
          <p:cNvSpPr txBox="1"/>
          <p:nvPr/>
        </p:nvSpPr>
        <p:spPr>
          <a:xfrm>
            <a:off x="5303520" y="41056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ASK A QUESTION</a:t>
            </a:r>
            <a:endParaRPr lang="en-US" sz="900" dirty="0"/>
          </a:p>
        </p:txBody>
      </p:sp>
      <p:sp>
        <p:nvSpPr>
          <p:cNvPr id="41" name="Panel page B  ASK A QUESTION"/>
          <p:cNvSpPr txBox="1"/>
          <p:nvPr/>
        </p:nvSpPr>
        <p:spPr>
          <a:xfrm>
            <a:off x="7132320" y="41056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Ask-a-question page</a:t>
            </a:r>
            <a:endParaRPr lang="en-US" sz="700" dirty="0"/>
          </a:p>
        </p:txBody>
      </p:sp>
      <p:sp>
        <p:nvSpPr>
          <p:cNvPr id="42" name="Step 9 Language detect"/>
          <p:cNvSpPr/>
          <p:nvPr/>
        </p:nvSpPr>
        <p:spPr>
          <a:xfrm>
            <a:off x="5394960" y="4663440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detect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goes to Whisper first;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skips the call</a:t>
            </a:r>
            <a:endParaRPr lang="en-US" sz="1020" dirty="0"/>
          </a:p>
        </p:txBody>
      </p:sp>
      <p:sp>
        <p:nvSpPr>
          <p:cNvPr id="43" name="Badge 9"/>
          <p:cNvSpPr/>
          <p:nvPr/>
        </p:nvSpPr>
        <p:spPr>
          <a:xfrm>
            <a:off x="5381244" y="4649724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44" name="Arrow 17"/>
          <p:cNvSpPr/>
          <p:nvPr/>
        </p:nvSpPr>
        <p:spPr>
          <a:xfrm>
            <a:off x="7315200" y="5522976"/>
            <a:ext cx="0" cy="27432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45" name="Step 10 Scope gate"/>
          <p:cNvSpPr/>
          <p:nvPr/>
        </p:nvSpPr>
        <p:spPr>
          <a:xfrm>
            <a:off x="5394960" y="5797296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gate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declines questions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farming</a:t>
            </a:r>
            <a:endParaRPr lang="en-US" sz="1020" dirty="0"/>
          </a:p>
        </p:txBody>
      </p:sp>
      <p:sp>
        <p:nvSpPr>
          <p:cNvPr id="46" name="Badge 10"/>
          <p:cNvSpPr/>
          <p:nvPr/>
        </p:nvSpPr>
        <p:spPr>
          <a:xfrm>
            <a:off x="5381244" y="5783580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47" name="Arrow 18"/>
          <p:cNvSpPr/>
          <p:nvPr/>
        </p:nvSpPr>
        <p:spPr>
          <a:xfrm>
            <a:off x="7315200" y="6656832"/>
            <a:ext cx="0" cy="27432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48" name="Step 11 Retrieval"/>
          <p:cNvSpPr/>
          <p:nvPr/>
        </p:nvSpPr>
        <p:spPr>
          <a:xfrm>
            <a:off x="5394960" y="6931152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over the scheme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+ rules + weather</a:t>
            </a:r>
            <a:endParaRPr lang="en-US" sz="1020" dirty="0"/>
          </a:p>
        </p:txBody>
      </p:sp>
      <p:sp>
        <p:nvSpPr>
          <p:cNvPr id="49" name="Badge 11"/>
          <p:cNvSpPr/>
          <p:nvPr/>
        </p:nvSpPr>
        <p:spPr>
          <a:xfrm>
            <a:off x="5381244" y="6917436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50" name="Arrow 19"/>
          <p:cNvSpPr/>
          <p:nvPr/>
        </p:nvSpPr>
        <p:spPr>
          <a:xfrm>
            <a:off x="7315200" y="7790688"/>
            <a:ext cx="0" cy="27432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51" name="Step 12 Groq LLM"/>
          <p:cNvSpPr/>
          <p:nvPr/>
        </p:nvSpPr>
        <p:spPr>
          <a:xfrm>
            <a:off x="5394960" y="8065008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DEEDD"/>
          </a:solidFill>
          <a:ln w="27940">
            <a:solidFill>
              <a:srgbClr val="E8892B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LLM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in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words</a:t>
            </a:r>
            <a:endParaRPr lang="en-US" sz="1020" dirty="0"/>
          </a:p>
        </p:txBody>
      </p:sp>
      <p:sp>
        <p:nvSpPr>
          <p:cNvPr id="52" name="Badge 12"/>
          <p:cNvSpPr/>
          <p:nvPr/>
        </p:nvSpPr>
        <p:spPr>
          <a:xfrm>
            <a:off x="5381244" y="8051292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53" name="Arrow 20"/>
          <p:cNvSpPr/>
          <p:nvPr/>
        </p:nvSpPr>
        <p:spPr>
          <a:xfrm>
            <a:off x="7315200" y="8924544"/>
            <a:ext cx="0" cy="27432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54" name="Step 13 Translate &amp; reply"/>
          <p:cNvSpPr/>
          <p:nvPr/>
        </p:nvSpPr>
        <p:spPr>
          <a:xfrm>
            <a:off x="5394960" y="9198864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&amp; reply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glossary; answer in the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farmer's language + memory</a:t>
            </a:r>
            <a:endParaRPr lang="en-US" sz="1020" dirty="0"/>
          </a:p>
        </p:txBody>
      </p:sp>
      <p:sp>
        <p:nvSpPr>
          <p:cNvPr id="55" name="Badge 13"/>
          <p:cNvSpPr/>
          <p:nvPr/>
        </p:nvSpPr>
        <p:spPr>
          <a:xfrm>
            <a:off x="5381244" y="9185148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56" name="Arrow 21"/>
          <p:cNvSpPr/>
          <p:nvPr/>
        </p:nvSpPr>
        <p:spPr>
          <a:xfrm>
            <a:off x="6583680" y="3840480"/>
            <a:ext cx="0" cy="82296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57" name="Return arrow 22"/>
          <p:cNvSpPr/>
          <p:nvPr/>
        </p:nvSpPr>
        <p:spPr>
          <a:xfrm flipV="1">
            <a:off x="8046720" y="3840480"/>
            <a:ext cx="0" cy="182880"/>
          </a:xfrm>
          <a:prstGeom prst="line">
            <a:avLst/>
          </a:prstGeom>
          <a:noFill/>
          <a:ln w="19050">
            <a:solidFill>
              <a:srgbClr val="2F7FB8"/>
            </a:solidFill>
            <a:prstDash val="dash"/>
            <a:tailEnd type="triangle"/>
          </a:ln>
        </p:spPr>
      </p:sp>
      <p:sp>
        <p:nvSpPr>
          <p:cNvPr id="58" name="Label 23"/>
          <p:cNvSpPr txBox="1"/>
          <p:nvPr/>
        </p:nvSpPr>
        <p:spPr>
          <a:xfrm>
            <a:off x="5966460" y="3959352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750" dirty="0"/>
          </a:p>
        </p:txBody>
      </p:sp>
      <p:sp>
        <p:nvSpPr>
          <p:cNvPr id="59" name="Label 24"/>
          <p:cNvSpPr txBox="1"/>
          <p:nvPr/>
        </p:nvSpPr>
        <p:spPr>
          <a:xfrm>
            <a:off x="8183880" y="39593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F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50" dirty="0"/>
          </a:p>
        </p:txBody>
      </p:sp>
      <p:sp>
        <p:nvSpPr>
          <p:cNvPr id="60" name="Panel C  FARM PLANNING"/>
          <p:cNvSpPr/>
          <p:nvPr/>
        </p:nvSpPr>
        <p:spPr>
          <a:xfrm>
            <a:off x="9875520" y="4023360"/>
            <a:ext cx="4389120" cy="6400800"/>
          </a:xfrm>
          <a:prstGeom prst="roundRect">
            <a:avLst>
              <a:gd name="adj" fmla="val 3750"/>
            </a:avLst>
          </a:prstGeom>
          <a:solidFill>
            <a:srgbClr val="E8F3EC"/>
          </a:solidFill>
          <a:ln w="19050">
            <a:solidFill>
              <a:srgbClr val="9CC7B0"/>
            </a:solidFill>
            <a:prstDash val="solid"/>
          </a:ln>
        </p:spPr>
      </p:sp>
      <p:sp>
        <p:nvSpPr>
          <p:cNvPr id="61" name="Panel title C  FARM PLANNING"/>
          <p:cNvSpPr txBox="1"/>
          <p:nvPr/>
        </p:nvSpPr>
        <p:spPr>
          <a:xfrm>
            <a:off x="10058400" y="41056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FARM PLANNING</a:t>
            </a:r>
            <a:endParaRPr lang="en-US" sz="900" dirty="0"/>
          </a:p>
        </p:txBody>
      </p:sp>
      <p:sp>
        <p:nvSpPr>
          <p:cNvPr id="62" name="Panel page C  FARM PLANNING"/>
          <p:cNvSpPr txBox="1"/>
          <p:nvPr/>
        </p:nvSpPr>
        <p:spPr>
          <a:xfrm>
            <a:off x="11887200" y="41056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Crop, calendar, weather, prices pages</a:t>
            </a:r>
            <a:endParaRPr lang="en-US" sz="700" dirty="0"/>
          </a:p>
        </p:txBody>
      </p:sp>
      <p:sp>
        <p:nvSpPr>
          <p:cNvPr id="63" name="Step 14 Crop plan"/>
          <p:cNvSpPr/>
          <p:nvPr/>
        </p:nvSpPr>
        <p:spPr>
          <a:xfrm>
            <a:off x="10149840" y="4663440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plan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crops, costs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rupees</a:t>
            </a:r>
            <a:endParaRPr lang="en-US" sz="1020" dirty="0"/>
          </a:p>
        </p:txBody>
      </p:sp>
      <p:sp>
        <p:nvSpPr>
          <p:cNvPr id="64" name="Badge 14"/>
          <p:cNvSpPr/>
          <p:nvPr/>
        </p:nvSpPr>
        <p:spPr>
          <a:xfrm>
            <a:off x="10136124" y="4649724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65" name="Arrow 25"/>
          <p:cNvSpPr/>
          <p:nvPr/>
        </p:nvSpPr>
        <p:spPr>
          <a:xfrm>
            <a:off x="12070080" y="5522976"/>
            <a:ext cx="0" cy="27432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66" name="Step 15 Calendar"/>
          <p:cNvSpPr/>
          <p:nvPr/>
        </p:nvSpPr>
        <p:spPr>
          <a:xfrm>
            <a:off x="10149840" y="5797296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sowing and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 dates</a:t>
            </a:r>
            <a:endParaRPr lang="en-US" sz="1020" dirty="0"/>
          </a:p>
        </p:txBody>
      </p:sp>
      <p:sp>
        <p:nvSpPr>
          <p:cNvPr id="67" name="Badge 15"/>
          <p:cNvSpPr/>
          <p:nvPr/>
        </p:nvSpPr>
        <p:spPr>
          <a:xfrm>
            <a:off x="10136124" y="5783580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68" name="Arrow 26"/>
          <p:cNvSpPr/>
          <p:nvPr/>
        </p:nvSpPr>
        <p:spPr>
          <a:xfrm>
            <a:off x="12070080" y="6656832"/>
            <a:ext cx="0" cy="27432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69" name="Step 16 Weather &amp; irrigation"/>
          <p:cNvSpPr/>
          <p:nvPr/>
        </p:nvSpPr>
        <p:spPr>
          <a:xfrm>
            <a:off x="10149840" y="6931152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&amp; irrigation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and advice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land</a:t>
            </a:r>
            <a:endParaRPr lang="en-US" sz="1020" dirty="0"/>
          </a:p>
        </p:txBody>
      </p:sp>
      <p:sp>
        <p:nvSpPr>
          <p:cNvPr id="70" name="Badge 16"/>
          <p:cNvSpPr/>
          <p:nvPr/>
        </p:nvSpPr>
        <p:spPr>
          <a:xfrm>
            <a:off x="10136124" y="6917436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71" name="Arrow 27"/>
          <p:cNvSpPr/>
          <p:nvPr/>
        </p:nvSpPr>
        <p:spPr>
          <a:xfrm>
            <a:off x="12070080" y="7790688"/>
            <a:ext cx="0" cy="27432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72" name="Step 17 Mandi prices"/>
          <p:cNvSpPr/>
          <p:nvPr/>
        </p:nvSpPr>
        <p:spPr>
          <a:xfrm>
            <a:off x="10149840" y="8065008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 prices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district, then state,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all India</a:t>
            </a:r>
            <a:endParaRPr lang="en-US" sz="1020" dirty="0"/>
          </a:p>
        </p:txBody>
      </p:sp>
      <p:sp>
        <p:nvSpPr>
          <p:cNvPr id="73" name="Badge 17"/>
          <p:cNvSpPr/>
          <p:nvPr/>
        </p:nvSpPr>
        <p:spPr>
          <a:xfrm>
            <a:off x="10136124" y="8051292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74" name="Arrow 28"/>
          <p:cNvSpPr/>
          <p:nvPr/>
        </p:nvSpPr>
        <p:spPr>
          <a:xfrm>
            <a:off x="12070080" y="8924544"/>
            <a:ext cx="0" cy="27432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75" name="Step 18 Reminders"/>
          <p:cNvSpPr/>
          <p:nvPr/>
        </p:nvSpPr>
        <p:spPr>
          <a:xfrm>
            <a:off x="10149840" y="9198864"/>
            <a:ext cx="38404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5400">
            <a:solidFill>
              <a:srgbClr val="1B6E4F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node-cron, India time,</a:t>
            </a:r>
            <a:endParaRPr lang="en-US" sz="102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email per type per day</a:t>
            </a:r>
            <a:endParaRPr lang="en-US" sz="1020" dirty="0"/>
          </a:p>
        </p:txBody>
      </p:sp>
      <p:sp>
        <p:nvSpPr>
          <p:cNvPr id="76" name="Badge 18"/>
          <p:cNvSpPr/>
          <p:nvPr/>
        </p:nvSpPr>
        <p:spPr>
          <a:xfrm>
            <a:off x="10136124" y="9185148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77" name="Arrow 29"/>
          <p:cNvSpPr/>
          <p:nvPr/>
        </p:nvSpPr>
        <p:spPr>
          <a:xfrm>
            <a:off x="11338560" y="3840480"/>
            <a:ext cx="0" cy="82296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78" name="Return arrow 30"/>
          <p:cNvSpPr/>
          <p:nvPr/>
        </p:nvSpPr>
        <p:spPr>
          <a:xfrm flipV="1">
            <a:off x="12801600" y="3840480"/>
            <a:ext cx="0" cy="182880"/>
          </a:xfrm>
          <a:prstGeom prst="line">
            <a:avLst/>
          </a:prstGeom>
          <a:noFill/>
          <a:ln w="19050">
            <a:solidFill>
              <a:srgbClr val="2F7FB8"/>
            </a:solidFill>
            <a:prstDash val="dash"/>
            <a:tailEnd type="triangle"/>
          </a:ln>
        </p:spPr>
      </p:sp>
      <p:sp>
        <p:nvSpPr>
          <p:cNvPr id="79" name="Label 31"/>
          <p:cNvSpPr txBox="1"/>
          <p:nvPr/>
        </p:nvSpPr>
        <p:spPr>
          <a:xfrm>
            <a:off x="10721340" y="3959352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750" dirty="0"/>
          </a:p>
        </p:txBody>
      </p:sp>
      <p:sp>
        <p:nvSpPr>
          <p:cNvPr id="80" name="Label 32"/>
          <p:cNvSpPr txBox="1"/>
          <p:nvPr/>
        </p:nvSpPr>
        <p:spPr>
          <a:xfrm>
            <a:off x="12938760" y="39593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F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50" dirty="0"/>
          </a:p>
        </p:txBody>
      </p:sp>
      <p:sp>
        <p:nvSpPr>
          <p:cNvPr id="81" name="Node MongoDB"/>
          <p:cNvSpPr/>
          <p:nvPr/>
        </p:nvSpPr>
        <p:spPr>
          <a:xfrm>
            <a:off x="365760" y="10972800"/>
            <a:ext cx="8046720" cy="1463040"/>
          </a:xfrm>
          <a:prstGeom prst="roundRect">
            <a:avLst>
              <a:gd name="adj" fmla="val 8125"/>
            </a:avLst>
          </a:prstGeom>
          <a:solidFill>
            <a:srgbClr val="FEF3DE"/>
          </a:solidFill>
          <a:ln w="25400">
            <a:solidFill>
              <a:srgbClr val="C9A050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25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· lands · loans · profiles · crops · question log · conversations</a:t>
            </a:r>
            <a:endParaRPr lang="en-US" sz="1250" dirty="0"/>
          </a:p>
        </p:txBody>
      </p:sp>
      <p:sp>
        <p:nvSpPr>
          <p:cNvPr id="82" name="Badge 19"/>
          <p:cNvSpPr/>
          <p:nvPr/>
        </p:nvSpPr>
        <p:spPr>
          <a:xfrm>
            <a:off x="352044" y="10959084"/>
            <a:ext cx="246888" cy="246888"/>
          </a:xfrm>
          <a:prstGeom prst="ellipse">
            <a:avLst/>
          </a:prstGeom>
          <a:solidFill>
            <a:srgbClr val="17231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83" name="External services box"/>
          <p:cNvSpPr/>
          <p:nvPr/>
        </p:nvSpPr>
        <p:spPr>
          <a:xfrm>
            <a:off x="8961120" y="10972800"/>
            <a:ext cx="5303520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25400">
            <a:solidFill>
              <a:srgbClr val="555A66"/>
            </a:solidFill>
            <a:prstDash val="dash"/>
          </a:ln>
        </p:spPr>
      </p:sp>
      <p:sp>
        <p:nvSpPr>
          <p:cNvPr id="84" name="External title"/>
          <p:cNvSpPr txBox="1"/>
          <p:nvPr/>
        </p:nvSpPr>
        <p:spPr>
          <a:xfrm>
            <a:off x="9144000" y="110459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5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</a:t>
            </a:r>
            <a:endParaRPr lang="en-US" sz="750" dirty="0"/>
          </a:p>
        </p:txBody>
      </p:sp>
      <p:sp>
        <p:nvSpPr>
          <p:cNvPr id="85" name="External Groq"/>
          <p:cNvSpPr/>
          <p:nvPr/>
        </p:nvSpPr>
        <p:spPr>
          <a:xfrm>
            <a:off x="9144000" y="11251692"/>
            <a:ext cx="4937760" cy="228600"/>
          </a:xfrm>
          <a:prstGeom prst="roundRect">
            <a:avLst>
              <a:gd name="adj" fmla="val 24000"/>
            </a:avLst>
          </a:prstGeom>
          <a:solidFill>
            <a:srgbClr val="EEEF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· answers, translation, speech</a:t>
            </a:r>
            <a:endParaRPr lang="en-US" sz="760" dirty="0"/>
          </a:p>
        </p:txBody>
      </p:sp>
      <p:sp>
        <p:nvSpPr>
          <p:cNvPr id="86" name="External OpenWeatherMap"/>
          <p:cNvSpPr/>
          <p:nvPr/>
        </p:nvSpPr>
        <p:spPr>
          <a:xfrm>
            <a:off x="9144000" y="11530584"/>
            <a:ext cx="4937760" cy="228600"/>
          </a:xfrm>
          <a:prstGeom prst="roundRect">
            <a:avLst>
              <a:gd name="adj" fmla="val 24000"/>
            </a:avLst>
          </a:prstGeom>
          <a:solidFill>
            <a:srgbClr val="EEEF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OpenWeatherMap · weather</a:t>
            </a:r>
            <a:endParaRPr lang="en-US" sz="760" dirty="0"/>
          </a:p>
        </p:txBody>
      </p:sp>
      <p:sp>
        <p:nvSpPr>
          <p:cNvPr id="87" name="External data.gov.in"/>
          <p:cNvSpPr/>
          <p:nvPr/>
        </p:nvSpPr>
        <p:spPr>
          <a:xfrm>
            <a:off x="9144000" y="11809476"/>
            <a:ext cx="4937760" cy="228600"/>
          </a:xfrm>
          <a:prstGeom prst="roundRect">
            <a:avLst>
              <a:gd name="adj" fmla="val 24000"/>
            </a:avLst>
          </a:prstGeom>
          <a:solidFill>
            <a:srgbClr val="EEEF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data.gov.in · mandi prices</a:t>
            </a:r>
            <a:endParaRPr lang="en-US" sz="760" dirty="0"/>
          </a:p>
        </p:txBody>
      </p:sp>
      <p:sp>
        <p:nvSpPr>
          <p:cNvPr id="88" name="External Gmail"/>
          <p:cNvSpPr/>
          <p:nvPr/>
        </p:nvSpPr>
        <p:spPr>
          <a:xfrm>
            <a:off x="9144000" y="12088368"/>
            <a:ext cx="4937760" cy="228600"/>
          </a:xfrm>
          <a:prstGeom prst="roundRect">
            <a:avLst>
              <a:gd name="adj" fmla="val 24000"/>
            </a:avLst>
          </a:prstGeom>
          <a:solidFill>
            <a:srgbClr val="EEEF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· reminder emails</a:t>
            </a:r>
            <a:endParaRPr lang="en-US" sz="760" dirty="0"/>
          </a:p>
        </p:txBody>
      </p:sp>
      <p:sp>
        <p:nvSpPr>
          <p:cNvPr id="89" name="Arrow 33"/>
          <p:cNvSpPr/>
          <p:nvPr/>
        </p:nvSpPr>
        <p:spPr>
          <a:xfrm>
            <a:off x="1828800" y="10424160"/>
            <a:ext cx="0" cy="54864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90" name="Label 34"/>
          <p:cNvSpPr txBox="1"/>
          <p:nvPr/>
        </p:nvSpPr>
        <p:spPr>
          <a:xfrm>
            <a:off x="2011680" y="10579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land, loans, profile</a:t>
            </a:r>
            <a:endParaRPr lang="en-US" sz="800" dirty="0"/>
          </a:p>
        </p:txBody>
      </p:sp>
      <p:sp>
        <p:nvSpPr>
          <p:cNvPr id="91" name="Arrow 35"/>
          <p:cNvSpPr/>
          <p:nvPr/>
        </p:nvSpPr>
        <p:spPr>
          <a:xfrm>
            <a:off x="6217920" y="10424160"/>
            <a:ext cx="0" cy="54864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92" name="Label 36"/>
          <p:cNvSpPr txBox="1"/>
          <p:nvPr/>
        </p:nvSpPr>
        <p:spPr>
          <a:xfrm>
            <a:off x="6400800" y="10579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memory, question log</a:t>
            </a:r>
            <a:endParaRPr lang="en-US" sz="800" dirty="0"/>
          </a:p>
        </p:txBody>
      </p:sp>
      <p:sp>
        <p:nvSpPr>
          <p:cNvPr id="93" name="Arrow 37"/>
          <p:cNvSpPr/>
          <p:nvPr/>
        </p:nvSpPr>
        <p:spPr>
          <a:xfrm>
            <a:off x="9509760" y="10424160"/>
            <a:ext cx="365760" cy="54864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94" name="Label 38"/>
          <p:cNvSpPr txBox="1"/>
          <p:nvPr/>
        </p:nvSpPr>
        <p:spPr>
          <a:xfrm>
            <a:off x="8618220" y="10579608"/>
            <a:ext cx="891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Groq, weather</a:t>
            </a:r>
            <a:endParaRPr lang="en-US" sz="800" dirty="0"/>
          </a:p>
        </p:txBody>
      </p:sp>
      <p:sp>
        <p:nvSpPr>
          <p:cNvPr id="95" name="Arrow 39"/>
          <p:cNvSpPr/>
          <p:nvPr/>
        </p:nvSpPr>
        <p:spPr>
          <a:xfrm>
            <a:off x="11887200" y="10424160"/>
            <a:ext cx="0" cy="548640"/>
          </a:xfrm>
          <a:prstGeom prst="line">
            <a:avLst/>
          </a:prstGeom>
          <a:noFill/>
          <a:ln w="19050">
            <a:solidFill>
              <a:srgbClr val="555A66"/>
            </a:solidFill>
            <a:prstDash val="solid"/>
            <a:tailEnd type="triangle"/>
          </a:ln>
        </p:spPr>
      </p:sp>
      <p:sp>
        <p:nvSpPr>
          <p:cNvPr id="96" name="Label 40"/>
          <p:cNvSpPr txBox="1"/>
          <p:nvPr/>
        </p:nvSpPr>
        <p:spPr>
          <a:xfrm>
            <a:off x="12070080" y="105796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weather, prices, email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GreenGuide Overall System Architecture</dc:title>
  <dc:subject>PptxGenJS Presentation</dc:subject>
  <dc:creator>PptxGenJS</dc:creator>
  <cp:lastModifiedBy>PptxGenJS</cp:lastModifiedBy>
  <cp:revision>1</cp:revision>
  <dcterms:created xsi:type="dcterms:W3CDTF">2026-10-12T14:09:03Z</dcterms:created>
  <dcterms:modified xsi:type="dcterms:W3CDTF">2026-10-12T14:09:03Z</dcterms:modified>
</cp:coreProperties>
</file>